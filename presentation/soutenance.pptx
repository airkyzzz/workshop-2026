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arlow Condensed Bold" charset="1" panose="00000806000000000000"/>
      <p:regular r:id="rId16"/>
    </p:embeddedFont>
    <p:embeddedFont>
      <p:font typeface="Open Sans Bold" charset="1" panose="00000000000000000000"/>
      <p:regular r:id="rId17"/>
    </p:embeddedFont>
    <p:embeddedFont>
      <p:font typeface="Open Sans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Relationship Id="rId7" Target="../media/image10.jpeg" Type="http://schemas.openxmlformats.org/officeDocument/2006/relationships/image"/><Relationship Id="rId8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13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14.jpeg" Type="http://schemas.openxmlformats.org/officeDocument/2006/relationships/image"/><Relationship Id="rId5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15.png" Type="http://schemas.openxmlformats.org/officeDocument/2006/relationships/image"/><Relationship Id="rId5" Target="../media/image16.jpe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14191"/>
            <a:ext cx="16230600" cy="7908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604"/>
              </a:lnSpc>
              <a:spcBef>
                <a:spcPct val="0"/>
              </a:spcBef>
            </a:pPr>
            <a:r>
              <a:rPr lang="en-US" b="true" sz="46146" strike="noStrike" u="non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ATRIA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529197" y="3350857"/>
            <a:ext cx="13229605" cy="13229605"/>
          </a:xfrm>
          <a:custGeom>
            <a:avLst/>
            <a:gdLst/>
            <a:ahLst/>
            <a:cxnLst/>
            <a:rect r="r" b="b" t="t" l="l"/>
            <a:pathLst>
              <a:path h="13229605" w="13229605">
                <a:moveTo>
                  <a:pt x="0" y="0"/>
                </a:moveTo>
                <a:lnTo>
                  <a:pt x="13229606" y="0"/>
                </a:lnTo>
                <a:lnTo>
                  <a:pt x="13229606" y="13229606"/>
                </a:lnTo>
                <a:lnTo>
                  <a:pt x="0" y="13229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22611" y="6318111"/>
            <a:ext cx="9842777" cy="9842777"/>
          </a:xfrm>
          <a:custGeom>
            <a:avLst/>
            <a:gdLst/>
            <a:ahLst/>
            <a:cxnLst/>
            <a:rect r="r" b="b" t="t" l="l"/>
            <a:pathLst>
              <a:path h="9842777" w="9842777">
                <a:moveTo>
                  <a:pt x="0" y="0"/>
                </a:moveTo>
                <a:lnTo>
                  <a:pt x="9842778" y="0"/>
                </a:lnTo>
                <a:lnTo>
                  <a:pt x="9842778" y="9842778"/>
                </a:lnTo>
                <a:lnTo>
                  <a:pt x="0" y="9842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93116" y="501425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93528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80762" y="7912067"/>
            <a:ext cx="214475" cy="1346233"/>
            <a:chOff x="0" y="0"/>
            <a:chExt cx="56487" cy="3545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487" cy="354563"/>
            </a:xfrm>
            <a:custGeom>
              <a:avLst/>
              <a:gdLst/>
              <a:ahLst/>
              <a:cxnLst/>
              <a:rect r="r" b="b" t="t" l="l"/>
              <a:pathLst>
                <a:path h="354563" w="56487">
                  <a:moveTo>
                    <a:pt x="28244" y="0"/>
                  </a:moveTo>
                  <a:lnTo>
                    <a:pt x="28244" y="0"/>
                  </a:lnTo>
                  <a:cubicBezTo>
                    <a:pt x="43842" y="0"/>
                    <a:pt x="56487" y="12645"/>
                    <a:pt x="56487" y="28244"/>
                  </a:cubicBezTo>
                  <a:lnTo>
                    <a:pt x="56487" y="326320"/>
                  </a:lnTo>
                  <a:cubicBezTo>
                    <a:pt x="56487" y="333811"/>
                    <a:pt x="53512" y="340994"/>
                    <a:pt x="48215" y="346291"/>
                  </a:cubicBezTo>
                  <a:cubicBezTo>
                    <a:pt x="42918" y="351588"/>
                    <a:pt x="35734" y="354563"/>
                    <a:pt x="28244" y="354563"/>
                  </a:cubicBezTo>
                  <a:lnTo>
                    <a:pt x="28244" y="354563"/>
                  </a:lnTo>
                  <a:cubicBezTo>
                    <a:pt x="20753" y="354563"/>
                    <a:pt x="13569" y="351588"/>
                    <a:pt x="8272" y="346291"/>
                  </a:cubicBezTo>
                  <a:cubicBezTo>
                    <a:pt x="2976" y="340994"/>
                    <a:pt x="0" y="333811"/>
                    <a:pt x="0" y="326320"/>
                  </a:cubicBezTo>
                  <a:lnTo>
                    <a:pt x="0" y="28244"/>
                  </a:lnTo>
                  <a:cubicBezTo>
                    <a:pt x="0" y="20753"/>
                    <a:pt x="2976" y="13569"/>
                    <a:pt x="8272" y="8272"/>
                  </a:cubicBezTo>
                  <a:cubicBezTo>
                    <a:pt x="13569" y="2976"/>
                    <a:pt x="20753" y="0"/>
                    <a:pt x="282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487" cy="392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453465"/>
            <a:ext cx="4572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EPSI 2026 · G2 · Alexandre, Melih, Maxime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40842" y="453465"/>
            <a:ext cx="9784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Autorité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85046" y="453465"/>
            <a:ext cx="106049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Démo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54289" y="453465"/>
            <a:ext cx="7354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Système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98530" y="453465"/>
            <a:ext cx="8097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Problème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65953" y="1323975"/>
            <a:ext cx="11156094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 spc="640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SYSTÈME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62671" y="334949"/>
            <a:ext cx="454053" cy="454053"/>
          </a:xfrm>
          <a:custGeom>
            <a:avLst/>
            <a:gdLst/>
            <a:ahLst/>
            <a:cxnLst/>
            <a:rect r="r" b="b" t="t" l="l"/>
            <a:pathLst>
              <a:path h="454053" w="454053">
                <a:moveTo>
                  <a:pt x="0" y="0"/>
                </a:moveTo>
                <a:lnTo>
                  <a:pt x="454053" y="0"/>
                </a:lnTo>
                <a:lnTo>
                  <a:pt x="454053" y="454052"/>
                </a:lnTo>
                <a:lnTo>
                  <a:pt x="0" y="4540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1" t="0" r="-251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60F">
                <a:alpha val="4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501425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93528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80762" y="7912067"/>
            <a:ext cx="214475" cy="1346233"/>
            <a:chOff x="0" y="0"/>
            <a:chExt cx="56487" cy="3545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487" cy="354563"/>
            </a:xfrm>
            <a:custGeom>
              <a:avLst/>
              <a:gdLst/>
              <a:ahLst/>
              <a:cxnLst/>
              <a:rect r="r" b="b" t="t" l="l"/>
              <a:pathLst>
                <a:path h="354563" w="56487">
                  <a:moveTo>
                    <a:pt x="28244" y="0"/>
                  </a:moveTo>
                  <a:lnTo>
                    <a:pt x="28244" y="0"/>
                  </a:lnTo>
                  <a:cubicBezTo>
                    <a:pt x="43842" y="0"/>
                    <a:pt x="56487" y="12645"/>
                    <a:pt x="56487" y="28244"/>
                  </a:cubicBezTo>
                  <a:lnTo>
                    <a:pt x="56487" y="326320"/>
                  </a:lnTo>
                  <a:cubicBezTo>
                    <a:pt x="56487" y="333811"/>
                    <a:pt x="53512" y="340994"/>
                    <a:pt x="48215" y="346291"/>
                  </a:cubicBezTo>
                  <a:cubicBezTo>
                    <a:pt x="42918" y="351588"/>
                    <a:pt x="35734" y="354563"/>
                    <a:pt x="28244" y="354563"/>
                  </a:cubicBezTo>
                  <a:lnTo>
                    <a:pt x="28244" y="354563"/>
                  </a:lnTo>
                  <a:cubicBezTo>
                    <a:pt x="20753" y="354563"/>
                    <a:pt x="13569" y="351588"/>
                    <a:pt x="8272" y="346291"/>
                  </a:cubicBezTo>
                  <a:cubicBezTo>
                    <a:pt x="2976" y="340994"/>
                    <a:pt x="0" y="333811"/>
                    <a:pt x="0" y="326320"/>
                  </a:cubicBezTo>
                  <a:lnTo>
                    <a:pt x="0" y="28244"/>
                  </a:lnTo>
                  <a:cubicBezTo>
                    <a:pt x="0" y="20753"/>
                    <a:pt x="2976" y="13569"/>
                    <a:pt x="8272" y="8272"/>
                  </a:cubicBezTo>
                  <a:cubicBezTo>
                    <a:pt x="13569" y="2976"/>
                    <a:pt x="20753" y="0"/>
                    <a:pt x="282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487" cy="392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62671" y="334949"/>
            <a:ext cx="454053" cy="454053"/>
          </a:xfrm>
          <a:custGeom>
            <a:avLst/>
            <a:gdLst/>
            <a:ahLst/>
            <a:cxnLst/>
            <a:rect r="r" b="b" t="t" l="l"/>
            <a:pathLst>
              <a:path h="454053" w="454053">
                <a:moveTo>
                  <a:pt x="0" y="0"/>
                </a:moveTo>
                <a:lnTo>
                  <a:pt x="454053" y="0"/>
                </a:lnTo>
                <a:lnTo>
                  <a:pt x="454053" y="454052"/>
                </a:lnTo>
                <a:lnTo>
                  <a:pt x="0" y="454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1" t="0" r="-251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081127" y="2081526"/>
            <a:ext cx="6881780" cy="688178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473701" y="2474099"/>
            <a:ext cx="6096634" cy="609663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50000" t="0" r="-5000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939311" y="323971"/>
            <a:ext cx="2103119" cy="2103119"/>
          </a:xfrm>
          <a:custGeom>
            <a:avLst/>
            <a:gdLst/>
            <a:ahLst/>
            <a:cxnLst/>
            <a:rect r="r" b="b" t="t" l="l"/>
            <a:pathLst>
              <a:path h="2103119" w="2103119">
                <a:moveTo>
                  <a:pt x="0" y="0"/>
                </a:moveTo>
                <a:lnTo>
                  <a:pt x="2103119" y="0"/>
                </a:lnTo>
                <a:lnTo>
                  <a:pt x="2103119" y="2103119"/>
                </a:lnTo>
                <a:lnTo>
                  <a:pt x="0" y="21031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453465"/>
            <a:ext cx="155028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ATRIA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940842" y="453465"/>
            <a:ext cx="9784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Autorité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85046" y="453465"/>
            <a:ext cx="106049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Démo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54289" y="453465"/>
            <a:ext cx="7354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Système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98530" y="453465"/>
            <a:ext cx="8097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Problème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7568" y="1790406"/>
            <a:ext cx="9117178" cy="2208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55"/>
              </a:lnSpc>
              <a:spcBef>
                <a:spcPct val="0"/>
              </a:spcBef>
            </a:pPr>
            <a:r>
              <a:rPr lang="en-US" b="true" sz="7397" strike="noStrike" u="non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ON MESURE TOUT, SANTÉ PHYSIQUE ET MENTALE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7568" y="4302000"/>
            <a:ext cx="7316670" cy="159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7"/>
              </a:lnSpc>
              <a:spcBef>
                <a:spcPct val="0"/>
              </a:spcBef>
            </a:pPr>
            <a:r>
              <a:rPr lang="en-US" sz="221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MESURÉ EN CONTINU</a:t>
            </a:r>
          </a:p>
          <a:p>
            <a:pPr algn="l" marL="0" indent="0" lvl="0">
              <a:lnSpc>
                <a:spcPts val="3217"/>
              </a:lnSpc>
              <a:spcBef>
                <a:spcPct val="0"/>
              </a:spcBef>
            </a:pPr>
            <a:r>
              <a:rPr lang="en-US" sz="221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Oxygène : capteurs, seuils, redondance. Énergie : coupures automatiques. Eau : recyclage mesuré sans arrêt.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7568" y="6085213"/>
            <a:ext cx="7316670" cy="78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7"/>
              </a:lnSpc>
              <a:spcBef>
                <a:spcPct val="0"/>
              </a:spcBef>
            </a:pPr>
            <a:r>
              <a:rPr lang="en-US" sz="22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Côté social : observation de l’état mental des liens sociaux et prédiction des anomalies comportementales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7568" y="7612958"/>
            <a:ext cx="7316670" cy="89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84"/>
              </a:lnSpc>
              <a:spcBef>
                <a:spcPct val="0"/>
              </a:spcBef>
            </a:pPr>
            <a:r>
              <a:rPr lang="en-US" b="true" sz="256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 réacteur ne ment pas sur son état. Un équipier, si.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60F">
                <a:alpha val="4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501425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93528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80762" y="7912067"/>
            <a:ext cx="214475" cy="1346233"/>
            <a:chOff x="0" y="0"/>
            <a:chExt cx="56487" cy="3545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487" cy="354563"/>
            </a:xfrm>
            <a:custGeom>
              <a:avLst/>
              <a:gdLst/>
              <a:ahLst/>
              <a:cxnLst/>
              <a:rect r="r" b="b" t="t" l="l"/>
              <a:pathLst>
                <a:path h="354563" w="56487">
                  <a:moveTo>
                    <a:pt x="28244" y="0"/>
                  </a:moveTo>
                  <a:lnTo>
                    <a:pt x="28244" y="0"/>
                  </a:lnTo>
                  <a:cubicBezTo>
                    <a:pt x="43842" y="0"/>
                    <a:pt x="56487" y="12645"/>
                    <a:pt x="56487" y="28244"/>
                  </a:cubicBezTo>
                  <a:lnTo>
                    <a:pt x="56487" y="326320"/>
                  </a:lnTo>
                  <a:cubicBezTo>
                    <a:pt x="56487" y="333811"/>
                    <a:pt x="53512" y="340994"/>
                    <a:pt x="48215" y="346291"/>
                  </a:cubicBezTo>
                  <a:cubicBezTo>
                    <a:pt x="42918" y="351588"/>
                    <a:pt x="35734" y="354563"/>
                    <a:pt x="28244" y="354563"/>
                  </a:cubicBezTo>
                  <a:lnTo>
                    <a:pt x="28244" y="354563"/>
                  </a:lnTo>
                  <a:cubicBezTo>
                    <a:pt x="20753" y="354563"/>
                    <a:pt x="13569" y="351588"/>
                    <a:pt x="8272" y="346291"/>
                  </a:cubicBezTo>
                  <a:cubicBezTo>
                    <a:pt x="2976" y="340994"/>
                    <a:pt x="0" y="333811"/>
                    <a:pt x="0" y="326320"/>
                  </a:cubicBezTo>
                  <a:lnTo>
                    <a:pt x="0" y="28244"/>
                  </a:lnTo>
                  <a:cubicBezTo>
                    <a:pt x="0" y="20753"/>
                    <a:pt x="2976" y="13569"/>
                    <a:pt x="8272" y="8272"/>
                  </a:cubicBezTo>
                  <a:cubicBezTo>
                    <a:pt x="13569" y="2976"/>
                    <a:pt x="20753" y="0"/>
                    <a:pt x="282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487" cy="392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62671" y="334949"/>
            <a:ext cx="454053" cy="454053"/>
          </a:xfrm>
          <a:custGeom>
            <a:avLst/>
            <a:gdLst/>
            <a:ahLst/>
            <a:cxnLst/>
            <a:rect r="r" b="b" t="t" l="l"/>
            <a:pathLst>
              <a:path h="454053" w="454053">
                <a:moveTo>
                  <a:pt x="0" y="0"/>
                </a:moveTo>
                <a:lnTo>
                  <a:pt x="454053" y="0"/>
                </a:lnTo>
                <a:lnTo>
                  <a:pt x="454053" y="454052"/>
                </a:lnTo>
                <a:lnTo>
                  <a:pt x="0" y="454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1" t="0" r="-251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453465"/>
            <a:ext cx="155028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ATRIA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940842" y="453465"/>
            <a:ext cx="9784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Autorité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85046" y="453465"/>
            <a:ext cx="106049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Démo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54289" y="453465"/>
            <a:ext cx="7354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Système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98530" y="453465"/>
            <a:ext cx="8097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Problème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2142253" y="1028700"/>
            <a:ext cx="2103119" cy="2103119"/>
          </a:xfrm>
          <a:custGeom>
            <a:avLst/>
            <a:gdLst/>
            <a:ahLst/>
            <a:cxnLst/>
            <a:rect r="r" b="b" t="t" l="l"/>
            <a:pathLst>
              <a:path h="2103119" w="2103119">
                <a:moveTo>
                  <a:pt x="0" y="0"/>
                </a:moveTo>
                <a:lnTo>
                  <a:pt x="2103119" y="0"/>
                </a:lnTo>
                <a:lnTo>
                  <a:pt x="2103119" y="2103119"/>
                </a:lnTo>
                <a:lnTo>
                  <a:pt x="0" y="2103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464686" y="1028700"/>
            <a:ext cx="9358628" cy="56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06"/>
              </a:lnSpc>
              <a:spcBef>
                <a:spcPct val="0"/>
              </a:spcBef>
            </a:pPr>
            <a:r>
              <a:rPr lang="en-US" b="true" sz="3766" strike="noStrike" u="non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TOUT TIENT DANS LE CREUX DE LA MAIN</a:t>
            </a:r>
          </a:p>
        </p:txBody>
      </p:sp>
      <p:sp>
        <p:nvSpPr>
          <p:cNvPr name="Freeform 23" id="23" descr="Schéma de câblage complet d'ATRIA : Raspberry Pi 5, Mega ADK passerelle et Mega 2560 nœud de compartiment"/>
          <p:cNvSpPr/>
          <p:nvPr/>
        </p:nvSpPr>
        <p:spPr>
          <a:xfrm flipH="false" flipV="false" rot="0">
            <a:off x="2958805" y="1822944"/>
            <a:ext cx="12370389" cy="8183671"/>
          </a:xfrm>
          <a:custGeom>
            <a:avLst/>
            <a:gdLst/>
            <a:ahLst/>
            <a:cxnLst/>
            <a:rect r="r" b="b" t="t" l="l"/>
            <a:pathLst>
              <a:path h="8183671" w="12370389">
                <a:moveTo>
                  <a:pt x="0" y="0"/>
                </a:moveTo>
                <a:lnTo>
                  <a:pt x="12370390" y="0"/>
                </a:lnTo>
                <a:lnTo>
                  <a:pt x="12370390" y="8183671"/>
                </a:lnTo>
                <a:lnTo>
                  <a:pt x="0" y="8183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" t="0" r="-1466" b="-1449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60F">
                <a:alpha val="4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501425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93528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80762" y="7912067"/>
            <a:ext cx="214475" cy="1346233"/>
            <a:chOff x="0" y="0"/>
            <a:chExt cx="56487" cy="3545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487" cy="354563"/>
            </a:xfrm>
            <a:custGeom>
              <a:avLst/>
              <a:gdLst/>
              <a:ahLst/>
              <a:cxnLst/>
              <a:rect r="r" b="b" t="t" l="l"/>
              <a:pathLst>
                <a:path h="354563" w="56487">
                  <a:moveTo>
                    <a:pt x="28244" y="0"/>
                  </a:moveTo>
                  <a:lnTo>
                    <a:pt x="28244" y="0"/>
                  </a:lnTo>
                  <a:cubicBezTo>
                    <a:pt x="43842" y="0"/>
                    <a:pt x="56487" y="12645"/>
                    <a:pt x="56487" y="28244"/>
                  </a:cubicBezTo>
                  <a:lnTo>
                    <a:pt x="56487" y="326320"/>
                  </a:lnTo>
                  <a:cubicBezTo>
                    <a:pt x="56487" y="333811"/>
                    <a:pt x="53512" y="340994"/>
                    <a:pt x="48215" y="346291"/>
                  </a:cubicBezTo>
                  <a:cubicBezTo>
                    <a:pt x="42918" y="351588"/>
                    <a:pt x="35734" y="354563"/>
                    <a:pt x="28244" y="354563"/>
                  </a:cubicBezTo>
                  <a:lnTo>
                    <a:pt x="28244" y="354563"/>
                  </a:lnTo>
                  <a:cubicBezTo>
                    <a:pt x="20753" y="354563"/>
                    <a:pt x="13569" y="351588"/>
                    <a:pt x="8272" y="346291"/>
                  </a:cubicBezTo>
                  <a:cubicBezTo>
                    <a:pt x="2976" y="340994"/>
                    <a:pt x="0" y="333811"/>
                    <a:pt x="0" y="326320"/>
                  </a:cubicBezTo>
                  <a:lnTo>
                    <a:pt x="0" y="28244"/>
                  </a:lnTo>
                  <a:cubicBezTo>
                    <a:pt x="0" y="20753"/>
                    <a:pt x="2976" y="13569"/>
                    <a:pt x="8272" y="8272"/>
                  </a:cubicBezTo>
                  <a:cubicBezTo>
                    <a:pt x="13569" y="2976"/>
                    <a:pt x="20753" y="0"/>
                    <a:pt x="282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487" cy="392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453465"/>
            <a:ext cx="155028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ATRIA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40842" y="453465"/>
            <a:ext cx="9784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Autorité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85046" y="453465"/>
            <a:ext cx="106049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Démo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54289" y="453465"/>
            <a:ext cx="7354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Système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98530" y="453465"/>
            <a:ext cx="8097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Problème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62671" y="334949"/>
            <a:ext cx="454053" cy="454053"/>
          </a:xfrm>
          <a:custGeom>
            <a:avLst/>
            <a:gdLst/>
            <a:ahLst/>
            <a:cxnLst/>
            <a:rect r="r" b="b" t="t" l="l"/>
            <a:pathLst>
              <a:path h="454053" w="454053">
                <a:moveTo>
                  <a:pt x="0" y="0"/>
                </a:moveTo>
                <a:lnTo>
                  <a:pt x="454053" y="0"/>
                </a:lnTo>
                <a:lnTo>
                  <a:pt x="454053" y="454052"/>
                </a:lnTo>
                <a:lnTo>
                  <a:pt x="0" y="454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1" t="0" r="-251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3329870" y="1785423"/>
            <a:ext cx="3208487" cy="320848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512899" y="1968452"/>
            <a:ext cx="2842429" cy="284242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347" t="0" r="-1347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852200" y="1785423"/>
            <a:ext cx="3208487" cy="320848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35229" y="1968452"/>
            <a:ext cx="2842429" cy="2842429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1466" r="0" b="-31466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412085" y="5293090"/>
            <a:ext cx="3208487" cy="3208487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595115" y="5476119"/>
            <a:ext cx="2842429" cy="2842429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8143" t="0" r="-18143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934416" y="5293090"/>
            <a:ext cx="3208487" cy="3208487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117445" y="5476119"/>
            <a:ext cx="2842429" cy="2842429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4976" t="0" r="-24976" b="0"/>
              </a:stretch>
            </a:blip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6459640" y="789001"/>
            <a:ext cx="2103119" cy="2103119"/>
          </a:xfrm>
          <a:custGeom>
            <a:avLst/>
            <a:gdLst/>
            <a:ahLst/>
            <a:cxnLst/>
            <a:rect r="r" b="b" t="t" l="l"/>
            <a:pathLst>
              <a:path h="2103119" w="2103119">
                <a:moveTo>
                  <a:pt x="0" y="0"/>
                </a:moveTo>
                <a:lnTo>
                  <a:pt x="2103119" y="0"/>
                </a:lnTo>
                <a:lnTo>
                  <a:pt x="2103119" y="2103119"/>
                </a:lnTo>
                <a:lnTo>
                  <a:pt x="0" y="21031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020743" y="1657015"/>
            <a:ext cx="5490457" cy="84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62"/>
              </a:lnSpc>
              <a:spcBef>
                <a:spcPct val="0"/>
              </a:spcBef>
            </a:pPr>
            <a:r>
              <a:rPr lang="en-US" b="true" sz="5694" strike="noStrike" u="non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DÉMONSTRATION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234160" y="3588442"/>
            <a:ext cx="6065589" cy="86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6"/>
              </a:lnSpc>
              <a:spcBef>
                <a:spcPct val="0"/>
              </a:spcBef>
            </a:pPr>
            <a:r>
              <a:rPr lang="en-US" sz="169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 BADGE NE SUFFIT PAS</a:t>
            </a:r>
          </a:p>
          <a:p>
            <a:pPr algn="l" marL="0" indent="0" lvl="0">
              <a:lnSpc>
                <a:spcPts val="2366"/>
              </a:lnSpc>
              <a:spcBef>
                <a:spcPct val="0"/>
              </a:spcBef>
            </a:pPr>
            <a:r>
              <a:rPr lang="en-US" sz="169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Melih badge et montre son visage. Alexandre badge avec le même badge : refusé, son visage n'est pas enrôlé.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2020743" y="3617017"/>
            <a:ext cx="709125" cy="70912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173207" y="3846359"/>
            <a:ext cx="404196" cy="23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3"/>
              </a:lnSpc>
              <a:spcBef>
                <a:spcPct val="0"/>
              </a:spcBef>
            </a:pPr>
            <a:r>
              <a:rPr lang="en-US" b="true" sz="142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234160" y="4983114"/>
            <a:ext cx="6065589" cy="1160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6"/>
              </a:lnSpc>
              <a:spcBef>
                <a:spcPct val="0"/>
              </a:spcBef>
            </a:pPr>
            <a:r>
              <a:rPr lang="en-US" sz="169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 GESTE COMPTE</a:t>
            </a:r>
          </a:p>
          <a:p>
            <a:pPr algn="l" marL="0" indent="0" lvl="0">
              <a:lnSpc>
                <a:spcPts val="2366"/>
              </a:lnSpc>
              <a:spcBef>
                <a:spcPct val="0"/>
              </a:spcBef>
            </a:pPr>
            <a:r>
              <a:rPr lang="en-US" sz="169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 doigt d'honneur filmé, reconnu, attribué par reconnaissance faciale. La conduite tombe, le poste vital est refusé.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2020743" y="5011689"/>
            <a:ext cx="709125" cy="709125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2173207" y="5241031"/>
            <a:ext cx="404196" cy="23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3"/>
              </a:lnSpc>
              <a:spcBef>
                <a:spcPct val="0"/>
              </a:spcBef>
            </a:pPr>
            <a:r>
              <a:rPr lang="en-US" b="true" sz="142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234160" y="6377786"/>
            <a:ext cx="6065589" cy="86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6"/>
              </a:lnSpc>
              <a:spcBef>
                <a:spcPct val="0"/>
              </a:spcBef>
            </a:pPr>
            <a:r>
              <a:rPr lang="en-US" sz="169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 FEU NE TUE PERSONNE</a:t>
            </a:r>
          </a:p>
          <a:p>
            <a:pPr algn="l" marL="0" indent="0" lvl="0">
              <a:lnSpc>
                <a:spcPts val="2366"/>
              </a:lnSpc>
              <a:spcBef>
                <a:spcPct val="0"/>
              </a:spcBef>
            </a:pPr>
            <a:r>
              <a:rPr lang="en-US" sz="169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Trois occupants dans la serre. ATRIA ne scelle pas : elle ordonne l'évacuation et ferme au dernier sorti.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2020743" y="6406361"/>
            <a:ext cx="709125" cy="709125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2173207" y="6635703"/>
            <a:ext cx="404196" cy="23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3"/>
              </a:lnSpc>
              <a:spcBef>
                <a:spcPct val="0"/>
              </a:spcBef>
            </a:pPr>
            <a:r>
              <a:rPr lang="en-US" b="true" sz="142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234160" y="7772458"/>
            <a:ext cx="6065589" cy="86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6"/>
              </a:lnSpc>
              <a:spcBef>
                <a:spcPct val="0"/>
              </a:spcBef>
            </a:pPr>
            <a:r>
              <a:rPr lang="en-US" sz="169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LES LIENS SE DÉDUISENT</a:t>
            </a:r>
          </a:p>
          <a:p>
            <a:pPr algn="l" marL="0" indent="0" lvl="0">
              <a:lnSpc>
                <a:spcPts val="2366"/>
              </a:lnSpc>
              <a:spcBef>
                <a:spcPct val="0"/>
              </a:spcBef>
            </a:pPr>
            <a:r>
              <a:rPr lang="en-US" sz="169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Personne ne déclare ses affinités. Elles se lisent dans les présences partagées et les frictions observées.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2020743" y="7801033"/>
            <a:ext cx="709125" cy="709125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2173207" y="8030375"/>
            <a:ext cx="404196" cy="23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3"/>
              </a:lnSpc>
              <a:spcBef>
                <a:spcPct val="0"/>
              </a:spcBef>
            </a:pPr>
            <a:r>
              <a:rPr lang="en-US" b="true" sz="142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60F">
                <a:alpha val="4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501425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93528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80762" y="7912067"/>
            <a:ext cx="214475" cy="1346233"/>
            <a:chOff x="0" y="0"/>
            <a:chExt cx="56487" cy="3545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487" cy="354563"/>
            </a:xfrm>
            <a:custGeom>
              <a:avLst/>
              <a:gdLst/>
              <a:ahLst/>
              <a:cxnLst/>
              <a:rect r="r" b="b" t="t" l="l"/>
              <a:pathLst>
                <a:path h="354563" w="56487">
                  <a:moveTo>
                    <a:pt x="28244" y="0"/>
                  </a:moveTo>
                  <a:lnTo>
                    <a:pt x="28244" y="0"/>
                  </a:lnTo>
                  <a:cubicBezTo>
                    <a:pt x="43842" y="0"/>
                    <a:pt x="56487" y="12645"/>
                    <a:pt x="56487" y="28244"/>
                  </a:cubicBezTo>
                  <a:lnTo>
                    <a:pt x="56487" y="326320"/>
                  </a:lnTo>
                  <a:cubicBezTo>
                    <a:pt x="56487" y="333811"/>
                    <a:pt x="53512" y="340994"/>
                    <a:pt x="48215" y="346291"/>
                  </a:cubicBezTo>
                  <a:cubicBezTo>
                    <a:pt x="42918" y="351588"/>
                    <a:pt x="35734" y="354563"/>
                    <a:pt x="28244" y="354563"/>
                  </a:cubicBezTo>
                  <a:lnTo>
                    <a:pt x="28244" y="354563"/>
                  </a:lnTo>
                  <a:cubicBezTo>
                    <a:pt x="20753" y="354563"/>
                    <a:pt x="13569" y="351588"/>
                    <a:pt x="8272" y="346291"/>
                  </a:cubicBezTo>
                  <a:cubicBezTo>
                    <a:pt x="2976" y="340994"/>
                    <a:pt x="0" y="333811"/>
                    <a:pt x="0" y="326320"/>
                  </a:cubicBezTo>
                  <a:lnTo>
                    <a:pt x="0" y="28244"/>
                  </a:lnTo>
                  <a:cubicBezTo>
                    <a:pt x="0" y="20753"/>
                    <a:pt x="2976" y="13569"/>
                    <a:pt x="8272" y="8272"/>
                  </a:cubicBezTo>
                  <a:cubicBezTo>
                    <a:pt x="13569" y="2976"/>
                    <a:pt x="20753" y="0"/>
                    <a:pt x="282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487" cy="392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62671" y="334949"/>
            <a:ext cx="454053" cy="454053"/>
          </a:xfrm>
          <a:custGeom>
            <a:avLst/>
            <a:gdLst/>
            <a:ahLst/>
            <a:cxnLst/>
            <a:rect r="r" b="b" t="t" l="l"/>
            <a:pathLst>
              <a:path h="454053" w="454053">
                <a:moveTo>
                  <a:pt x="0" y="0"/>
                </a:moveTo>
                <a:lnTo>
                  <a:pt x="454053" y="0"/>
                </a:lnTo>
                <a:lnTo>
                  <a:pt x="454053" y="454052"/>
                </a:lnTo>
                <a:lnTo>
                  <a:pt x="0" y="454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1" t="0" r="-251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453465"/>
            <a:ext cx="155028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ATRIA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940842" y="453465"/>
            <a:ext cx="9784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Autorité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85046" y="453465"/>
            <a:ext cx="106049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Démo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54289" y="453465"/>
            <a:ext cx="7354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Système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98530" y="453465"/>
            <a:ext cx="8097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Problème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-1318600" y="2021056"/>
            <a:ext cx="6244887" cy="624488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-962359" y="2377298"/>
            <a:ext cx="5532404" cy="553240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6666" t="0" r="-16666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614370" y="2021056"/>
            <a:ext cx="6244887" cy="624488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970611" y="2377298"/>
            <a:ext cx="5532404" cy="553240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9565" t="0" r="-19565" b="0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5940842" y="1229869"/>
            <a:ext cx="2103119" cy="2103119"/>
          </a:xfrm>
          <a:custGeom>
            <a:avLst/>
            <a:gdLst/>
            <a:ahLst/>
            <a:cxnLst/>
            <a:rect r="r" b="b" t="t" l="l"/>
            <a:pathLst>
              <a:path h="2103119" w="2103119">
                <a:moveTo>
                  <a:pt x="0" y="0"/>
                </a:moveTo>
                <a:lnTo>
                  <a:pt x="2103119" y="0"/>
                </a:lnTo>
                <a:lnTo>
                  <a:pt x="2103119" y="2103119"/>
                </a:lnTo>
                <a:lnTo>
                  <a:pt x="0" y="21031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651276" y="1137048"/>
            <a:ext cx="7840523" cy="179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05"/>
              </a:lnSpc>
              <a:spcBef>
                <a:spcPct val="0"/>
              </a:spcBef>
            </a:pPr>
            <a:r>
              <a:rPr lang="en-US" b="true" sz="6072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ELLE FAIT DES PRÉDICTIONS COMPORTEMENTALES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45300" y="3985728"/>
            <a:ext cx="5718792" cy="117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1"/>
              </a:lnSpc>
              <a:spcBef>
                <a:spcPct val="0"/>
              </a:spcBef>
            </a:pPr>
            <a:r>
              <a:rPr lang="en-US" sz="2087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QUESTION POSÉE AU MODÈLE</a:t>
            </a:r>
          </a:p>
          <a:p>
            <a:pPr algn="l" marL="0" indent="0" lvl="0">
              <a:lnSpc>
                <a:spcPts val="3131"/>
              </a:lnSpc>
              <a:spcBef>
                <a:spcPct val="0"/>
              </a:spcBef>
            </a:pPr>
            <a:r>
              <a:rPr lang="en-US" sz="2087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 membre passera-t-il sous le seuil d'aptitude dans les six prochaines heures ?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51276" y="4042878"/>
            <a:ext cx="756232" cy="756232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813868" y="4279196"/>
            <a:ext cx="431047" cy="25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151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945300" y="6088974"/>
            <a:ext cx="5718792" cy="184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9"/>
              </a:lnSpc>
              <a:spcBef>
                <a:spcPct val="0"/>
              </a:spcBef>
            </a:pPr>
            <a:r>
              <a:rPr lang="en-US" sz="199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capacité seule · AUC 0.922</a:t>
            </a:r>
          </a:p>
          <a:p>
            <a:pPr algn="l" marL="0" indent="0" lvl="0">
              <a:lnSpc>
                <a:spcPts val="2989"/>
              </a:lnSpc>
              <a:spcBef>
                <a:spcPct val="0"/>
              </a:spcBef>
            </a:pPr>
            <a:r>
              <a:rPr lang="en-US" sz="199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+ pente sur 6 heures · 0.945</a:t>
            </a:r>
          </a:p>
          <a:p>
            <a:pPr algn="l" marL="0" indent="0" lvl="0">
              <a:lnSpc>
                <a:spcPts val="2989"/>
              </a:lnSpc>
              <a:spcBef>
                <a:spcPct val="0"/>
              </a:spcBef>
            </a:pPr>
            <a:r>
              <a:rPr lang="en-US" sz="199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+ sommeil de la nuit · 0.955</a:t>
            </a:r>
          </a:p>
          <a:p>
            <a:pPr algn="l" marL="0" indent="0" lvl="0">
              <a:lnSpc>
                <a:spcPts val="2989"/>
              </a:lnSpc>
              <a:spcBef>
                <a:spcPct val="0"/>
              </a:spcBef>
            </a:pPr>
            <a:r>
              <a:rPr lang="en-US" sz="199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+ dette de sommeil · 0.962</a:t>
            </a:r>
          </a:p>
          <a:p>
            <a:pPr algn="l" marL="0" indent="0" lvl="0">
              <a:lnSpc>
                <a:spcPts val="2989"/>
              </a:lnSpc>
              <a:spcBef>
                <a:spcPct val="0"/>
              </a:spcBef>
            </a:pPr>
            <a:r>
              <a:rPr lang="en-US" sz="1992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+ cardio, stress, conduite · 0.957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651295" y="6004012"/>
            <a:ext cx="756232" cy="756232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9813862" y="6240316"/>
            <a:ext cx="431047" cy="25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151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945300" y="8635001"/>
            <a:ext cx="5718792" cy="72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9"/>
              </a:lnSpc>
              <a:spcBef>
                <a:spcPct val="0"/>
              </a:spcBef>
            </a:pPr>
            <a:r>
              <a:rPr lang="en-US" sz="199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 modele écoute les discussion pour évaluer la confiance et analyse les comportements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651276" y="8427272"/>
            <a:ext cx="756232" cy="756232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813843" y="8663576"/>
            <a:ext cx="431047" cy="25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151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260073" y="9801225"/>
            <a:ext cx="4135165" cy="35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1"/>
              </a:lnSpc>
            </a:pPr>
            <a:r>
              <a:rPr lang="en-US" sz="93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*AUC = Area Under the Curve</a:t>
            </a:r>
          </a:p>
          <a:p>
            <a:pPr algn="l" marL="0" indent="0" lvl="0">
              <a:lnSpc>
                <a:spcPts val="1401"/>
              </a:lnSpc>
              <a:spcBef>
                <a:spcPct val="0"/>
              </a:spcBef>
            </a:pPr>
            <a:r>
              <a:rPr lang="en-US" sz="93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Modèle entrainé a l’aide de la méthode de la descente de gradient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60F">
                <a:alpha val="4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501425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93528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80762" y="7912067"/>
            <a:ext cx="214475" cy="1346233"/>
            <a:chOff x="0" y="0"/>
            <a:chExt cx="56487" cy="3545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487" cy="354563"/>
            </a:xfrm>
            <a:custGeom>
              <a:avLst/>
              <a:gdLst/>
              <a:ahLst/>
              <a:cxnLst/>
              <a:rect r="r" b="b" t="t" l="l"/>
              <a:pathLst>
                <a:path h="354563" w="56487">
                  <a:moveTo>
                    <a:pt x="28244" y="0"/>
                  </a:moveTo>
                  <a:lnTo>
                    <a:pt x="28244" y="0"/>
                  </a:lnTo>
                  <a:cubicBezTo>
                    <a:pt x="43842" y="0"/>
                    <a:pt x="56487" y="12645"/>
                    <a:pt x="56487" y="28244"/>
                  </a:cubicBezTo>
                  <a:lnTo>
                    <a:pt x="56487" y="326320"/>
                  </a:lnTo>
                  <a:cubicBezTo>
                    <a:pt x="56487" y="333811"/>
                    <a:pt x="53512" y="340994"/>
                    <a:pt x="48215" y="346291"/>
                  </a:cubicBezTo>
                  <a:cubicBezTo>
                    <a:pt x="42918" y="351588"/>
                    <a:pt x="35734" y="354563"/>
                    <a:pt x="28244" y="354563"/>
                  </a:cubicBezTo>
                  <a:lnTo>
                    <a:pt x="28244" y="354563"/>
                  </a:lnTo>
                  <a:cubicBezTo>
                    <a:pt x="20753" y="354563"/>
                    <a:pt x="13569" y="351588"/>
                    <a:pt x="8272" y="346291"/>
                  </a:cubicBezTo>
                  <a:cubicBezTo>
                    <a:pt x="2976" y="340994"/>
                    <a:pt x="0" y="333811"/>
                    <a:pt x="0" y="326320"/>
                  </a:cubicBezTo>
                  <a:lnTo>
                    <a:pt x="0" y="28244"/>
                  </a:lnTo>
                  <a:cubicBezTo>
                    <a:pt x="0" y="20753"/>
                    <a:pt x="2976" y="13569"/>
                    <a:pt x="8272" y="8272"/>
                  </a:cubicBezTo>
                  <a:cubicBezTo>
                    <a:pt x="13569" y="2976"/>
                    <a:pt x="20753" y="0"/>
                    <a:pt x="282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487" cy="392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453465"/>
            <a:ext cx="155028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ATRIA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40842" y="453465"/>
            <a:ext cx="9784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Autorité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85046" y="453465"/>
            <a:ext cx="106049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Démo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54289" y="453465"/>
            <a:ext cx="7354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Système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98530" y="453465"/>
            <a:ext cx="8097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Problème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62671" y="334949"/>
            <a:ext cx="454053" cy="454053"/>
          </a:xfrm>
          <a:custGeom>
            <a:avLst/>
            <a:gdLst/>
            <a:ahLst/>
            <a:cxnLst/>
            <a:rect r="r" b="b" t="t" l="l"/>
            <a:pathLst>
              <a:path h="454053" w="454053">
                <a:moveTo>
                  <a:pt x="0" y="0"/>
                </a:moveTo>
                <a:lnTo>
                  <a:pt x="454053" y="0"/>
                </a:lnTo>
                <a:lnTo>
                  <a:pt x="454053" y="454052"/>
                </a:lnTo>
                <a:lnTo>
                  <a:pt x="0" y="454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1" t="0" r="-251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2144284" y="2601245"/>
            <a:ext cx="4955890" cy="495589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426994" y="2883955"/>
            <a:ext cx="4390470" cy="439047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6172506" y="2662429"/>
            <a:ext cx="2103119" cy="2103119"/>
          </a:xfrm>
          <a:custGeom>
            <a:avLst/>
            <a:gdLst/>
            <a:ahLst/>
            <a:cxnLst/>
            <a:rect r="r" b="b" t="t" l="l"/>
            <a:pathLst>
              <a:path h="2103119" w="2103119">
                <a:moveTo>
                  <a:pt x="0" y="0"/>
                </a:moveTo>
                <a:lnTo>
                  <a:pt x="2103119" y="0"/>
                </a:lnTo>
                <a:lnTo>
                  <a:pt x="2103119" y="2103118"/>
                </a:lnTo>
                <a:lnTo>
                  <a:pt x="0" y="21031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521292" y="2108723"/>
            <a:ext cx="8016888" cy="170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52"/>
              </a:lnSpc>
              <a:spcBef>
                <a:spcPct val="0"/>
              </a:spcBef>
            </a:pPr>
            <a:r>
              <a:rPr lang="en-US" b="true" sz="5771" strike="noStrike" u="non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ELLE FERME DES CLOISONS, PAS DES GENS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21292" y="4676169"/>
            <a:ext cx="9734793" cy="338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198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 QU'ELLE DÉCIDE SEULE</a:t>
            </a:r>
          </a:p>
          <a:p>
            <a:pPr algn="l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198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Sceller un compartiment en feu, à une condition vérifiée à l'instant de la décision : qu'il soit vide.</a:t>
            </a:r>
          </a:p>
          <a:p>
            <a:pPr algn="l" marL="0" indent="0" lvl="0">
              <a:lnSpc>
                <a:spcPts val="297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198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 QU'ELLE NE DÉCIDE JAMAIS</a:t>
            </a:r>
          </a:p>
          <a:p>
            <a:pPr algn="l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198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Isoler quelqu'un. Elle mesure, elle argumente, elle propose.</a:t>
            </a:r>
          </a:p>
          <a:p>
            <a:pPr algn="l" marL="0" indent="0" lvl="0">
              <a:lnSpc>
                <a:spcPts val="297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975"/>
              </a:lnSpc>
              <a:spcBef>
                <a:spcPct val="0"/>
              </a:spcBef>
            </a:pPr>
            <a:r>
              <a:rPr lang="en-US" sz="1983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Chaque décision est écrite au journal avec la mesure qui l'a déclenchée. C'est une surveillance, elle est assumée comme telle, et elle se laisse contredire.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60F">
                <a:alpha val="4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501425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93528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80762" y="7912067"/>
            <a:ext cx="214475" cy="1346233"/>
            <a:chOff x="0" y="0"/>
            <a:chExt cx="56487" cy="3545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487" cy="354563"/>
            </a:xfrm>
            <a:custGeom>
              <a:avLst/>
              <a:gdLst/>
              <a:ahLst/>
              <a:cxnLst/>
              <a:rect r="r" b="b" t="t" l="l"/>
              <a:pathLst>
                <a:path h="354563" w="56487">
                  <a:moveTo>
                    <a:pt x="28244" y="0"/>
                  </a:moveTo>
                  <a:lnTo>
                    <a:pt x="28244" y="0"/>
                  </a:lnTo>
                  <a:cubicBezTo>
                    <a:pt x="43842" y="0"/>
                    <a:pt x="56487" y="12645"/>
                    <a:pt x="56487" y="28244"/>
                  </a:cubicBezTo>
                  <a:lnTo>
                    <a:pt x="56487" y="326320"/>
                  </a:lnTo>
                  <a:cubicBezTo>
                    <a:pt x="56487" y="333811"/>
                    <a:pt x="53512" y="340994"/>
                    <a:pt x="48215" y="346291"/>
                  </a:cubicBezTo>
                  <a:cubicBezTo>
                    <a:pt x="42918" y="351588"/>
                    <a:pt x="35734" y="354563"/>
                    <a:pt x="28244" y="354563"/>
                  </a:cubicBezTo>
                  <a:lnTo>
                    <a:pt x="28244" y="354563"/>
                  </a:lnTo>
                  <a:cubicBezTo>
                    <a:pt x="20753" y="354563"/>
                    <a:pt x="13569" y="351588"/>
                    <a:pt x="8272" y="346291"/>
                  </a:cubicBezTo>
                  <a:cubicBezTo>
                    <a:pt x="2976" y="340994"/>
                    <a:pt x="0" y="333811"/>
                    <a:pt x="0" y="326320"/>
                  </a:cubicBezTo>
                  <a:lnTo>
                    <a:pt x="0" y="28244"/>
                  </a:lnTo>
                  <a:cubicBezTo>
                    <a:pt x="0" y="20753"/>
                    <a:pt x="2976" y="13569"/>
                    <a:pt x="8272" y="8272"/>
                  </a:cubicBezTo>
                  <a:cubicBezTo>
                    <a:pt x="13569" y="2976"/>
                    <a:pt x="20753" y="0"/>
                    <a:pt x="282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487" cy="392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62671" y="334949"/>
            <a:ext cx="454053" cy="454053"/>
          </a:xfrm>
          <a:custGeom>
            <a:avLst/>
            <a:gdLst/>
            <a:ahLst/>
            <a:cxnLst/>
            <a:rect r="r" b="b" t="t" l="l"/>
            <a:pathLst>
              <a:path h="454053" w="454053">
                <a:moveTo>
                  <a:pt x="0" y="0"/>
                </a:moveTo>
                <a:lnTo>
                  <a:pt x="454053" y="0"/>
                </a:lnTo>
                <a:lnTo>
                  <a:pt x="454053" y="454052"/>
                </a:lnTo>
                <a:lnTo>
                  <a:pt x="0" y="454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1" t="0" r="-251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-8941707" y="1345293"/>
            <a:ext cx="17883413" cy="1788341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1890289"/>
            <a:ext cx="8396711" cy="8396711"/>
            <a:chOff x="0" y="0"/>
            <a:chExt cx="6350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0"/>
                  </a:moveTo>
                  <a:lnTo>
                    <a:pt x="0" y="6350000"/>
                  </a:lnTo>
                  <a:lnTo>
                    <a:pt x="6350000" y="6350000"/>
                  </a:lnTo>
                  <a:cubicBezTo>
                    <a:pt x="6350000" y="2843530"/>
                    <a:pt x="3506470" y="0"/>
                    <a:pt x="0" y="0"/>
                  </a:cubicBez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7518383" y="1602091"/>
            <a:ext cx="2103119" cy="2103119"/>
          </a:xfrm>
          <a:custGeom>
            <a:avLst/>
            <a:gdLst/>
            <a:ahLst/>
            <a:cxnLst/>
            <a:rect r="r" b="b" t="t" l="l"/>
            <a:pathLst>
              <a:path h="2103119" w="2103119">
                <a:moveTo>
                  <a:pt x="0" y="0"/>
                </a:moveTo>
                <a:lnTo>
                  <a:pt x="2103119" y="0"/>
                </a:lnTo>
                <a:lnTo>
                  <a:pt x="2103119" y="2103119"/>
                </a:lnTo>
                <a:lnTo>
                  <a:pt x="0" y="21031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621502" y="7465088"/>
            <a:ext cx="5897536" cy="800704"/>
            <a:chOff x="0" y="0"/>
            <a:chExt cx="1304494" cy="177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04494" cy="177110"/>
            </a:xfrm>
            <a:custGeom>
              <a:avLst/>
              <a:gdLst/>
              <a:ahLst/>
              <a:cxnLst/>
              <a:rect r="r" b="b" t="t" l="l"/>
              <a:pathLst>
                <a:path h="177110" w="1304494">
                  <a:moveTo>
                    <a:pt x="88555" y="0"/>
                  </a:moveTo>
                  <a:lnTo>
                    <a:pt x="1215939" y="0"/>
                  </a:lnTo>
                  <a:cubicBezTo>
                    <a:pt x="1264846" y="0"/>
                    <a:pt x="1304494" y="39647"/>
                    <a:pt x="1304494" y="88555"/>
                  </a:cubicBezTo>
                  <a:lnTo>
                    <a:pt x="1304494" y="88555"/>
                  </a:lnTo>
                  <a:cubicBezTo>
                    <a:pt x="1304494" y="137463"/>
                    <a:pt x="1264846" y="177110"/>
                    <a:pt x="1215939" y="177110"/>
                  </a:cubicBezTo>
                  <a:lnTo>
                    <a:pt x="88555" y="177110"/>
                  </a:lnTo>
                  <a:cubicBezTo>
                    <a:pt x="39647" y="177110"/>
                    <a:pt x="0" y="137463"/>
                    <a:pt x="0" y="88555"/>
                  </a:cubicBezTo>
                  <a:lnTo>
                    <a:pt x="0" y="88555"/>
                  </a:lnTo>
                  <a:cubicBezTo>
                    <a:pt x="0" y="39647"/>
                    <a:pt x="39647" y="0"/>
                    <a:pt x="88555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04494" cy="215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28700" y="453465"/>
            <a:ext cx="155028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ATRIA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940842" y="453465"/>
            <a:ext cx="9784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Autorité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385046" y="453465"/>
            <a:ext cx="106049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Démo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54289" y="453465"/>
            <a:ext cx="7354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Système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98530" y="453465"/>
            <a:ext cx="8097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Problème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21502" y="2021208"/>
            <a:ext cx="7938991" cy="149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51"/>
              </a:lnSpc>
              <a:spcBef>
                <a:spcPct val="0"/>
              </a:spcBef>
            </a:pPr>
            <a:r>
              <a:rPr lang="en-US" b="true" sz="5000" strike="noStrike" u="non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LE GRAPHE SOCIAL SE DÉDUIT, IL NE SE DÉCLARE PAS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21502" y="3995988"/>
            <a:ext cx="7938991" cy="2237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6"/>
              </a:lnSpc>
              <a:spcBef>
                <a:spcPct val="0"/>
              </a:spcBef>
            </a:pPr>
            <a:r>
              <a:rPr lang="en-US" sz="1964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 lien part du temps réellement partagé dans un compartiment, et les frictions le tirent vers le négatif.</a:t>
            </a:r>
          </a:p>
          <a:p>
            <a:pPr algn="l" marL="0" indent="0" lvl="0">
              <a:lnSpc>
                <a:spcPts val="294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946"/>
              </a:lnSpc>
              <a:spcBef>
                <a:spcPct val="0"/>
              </a:spcBef>
            </a:pPr>
            <a:r>
              <a:rPr lang="en-US" sz="1964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 incident devant six personnes ne crée pas six inimitiés : chaque témoin n'en reçoit qu'un sixième, et l'hostilité sature. Il faut que ça se répète avec la même personne pour que le lien bascule.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48330" y="7666974"/>
            <a:ext cx="5443879" cy="33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0"/>
              </a:lnSpc>
              <a:spcBef>
                <a:spcPct val="0"/>
              </a:spcBef>
            </a:pPr>
            <a:r>
              <a:rPr lang="en-US" b="true" sz="1964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24 membres · 10 affinités · 6 hostilités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60F">
                <a:alpha val="4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501425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93528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80762" y="7912067"/>
            <a:ext cx="214475" cy="1346233"/>
            <a:chOff x="0" y="0"/>
            <a:chExt cx="56487" cy="3545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487" cy="354563"/>
            </a:xfrm>
            <a:custGeom>
              <a:avLst/>
              <a:gdLst/>
              <a:ahLst/>
              <a:cxnLst/>
              <a:rect r="r" b="b" t="t" l="l"/>
              <a:pathLst>
                <a:path h="354563" w="56487">
                  <a:moveTo>
                    <a:pt x="28244" y="0"/>
                  </a:moveTo>
                  <a:lnTo>
                    <a:pt x="28244" y="0"/>
                  </a:lnTo>
                  <a:cubicBezTo>
                    <a:pt x="43842" y="0"/>
                    <a:pt x="56487" y="12645"/>
                    <a:pt x="56487" y="28244"/>
                  </a:cubicBezTo>
                  <a:lnTo>
                    <a:pt x="56487" y="326320"/>
                  </a:lnTo>
                  <a:cubicBezTo>
                    <a:pt x="56487" y="333811"/>
                    <a:pt x="53512" y="340994"/>
                    <a:pt x="48215" y="346291"/>
                  </a:cubicBezTo>
                  <a:cubicBezTo>
                    <a:pt x="42918" y="351588"/>
                    <a:pt x="35734" y="354563"/>
                    <a:pt x="28244" y="354563"/>
                  </a:cubicBezTo>
                  <a:lnTo>
                    <a:pt x="28244" y="354563"/>
                  </a:lnTo>
                  <a:cubicBezTo>
                    <a:pt x="20753" y="354563"/>
                    <a:pt x="13569" y="351588"/>
                    <a:pt x="8272" y="346291"/>
                  </a:cubicBezTo>
                  <a:cubicBezTo>
                    <a:pt x="2976" y="340994"/>
                    <a:pt x="0" y="333811"/>
                    <a:pt x="0" y="326320"/>
                  </a:cubicBezTo>
                  <a:lnTo>
                    <a:pt x="0" y="28244"/>
                  </a:lnTo>
                  <a:cubicBezTo>
                    <a:pt x="0" y="20753"/>
                    <a:pt x="2976" y="13569"/>
                    <a:pt x="8272" y="8272"/>
                  </a:cubicBezTo>
                  <a:cubicBezTo>
                    <a:pt x="13569" y="2976"/>
                    <a:pt x="20753" y="0"/>
                    <a:pt x="282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487" cy="392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62671" y="334949"/>
            <a:ext cx="454053" cy="454053"/>
          </a:xfrm>
          <a:custGeom>
            <a:avLst/>
            <a:gdLst/>
            <a:ahLst/>
            <a:cxnLst/>
            <a:rect r="r" b="b" t="t" l="l"/>
            <a:pathLst>
              <a:path h="454053" w="454053">
                <a:moveTo>
                  <a:pt x="0" y="0"/>
                </a:moveTo>
                <a:lnTo>
                  <a:pt x="454053" y="0"/>
                </a:lnTo>
                <a:lnTo>
                  <a:pt x="454053" y="454052"/>
                </a:lnTo>
                <a:lnTo>
                  <a:pt x="0" y="454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1" t="0" r="-251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054577" y="3478947"/>
            <a:ext cx="3065500" cy="306550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229449" y="3653819"/>
            <a:ext cx="2715755" cy="271575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56059" t="-3304" r="-56619" b="-3848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759026" y="3478947"/>
            <a:ext cx="3065500" cy="306550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933898" y="3653819"/>
            <a:ext cx="2715755" cy="271575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463475" y="3478947"/>
            <a:ext cx="3065500" cy="306550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38347" y="3653819"/>
            <a:ext cx="2715755" cy="271575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763" t="0" r="-3763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167924" y="3478947"/>
            <a:ext cx="3065500" cy="306550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342796" y="3653819"/>
            <a:ext cx="2715755" cy="271575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7876705" y="223303"/>
            <a:ext cx="2103119" cy="2103119"/>
          </a:xfrm>
          <a:custGeom>
            <a:avLst/>
            <a:gdLst/>
            <a:ahLst/>
            <a:cxnLst/>
            <a:rect r="r" b="b" t="t" l="l"/>
            <a:pathLst>
              <a:path h="2103119" w="2103119">
                <a:moveTo>
                  <a:pt x="0" y="0"/>
                </a:moveTo>
                <a:lnTo>
                  <a:pt x="2103119" y="0"/>
                </a:lnTo>
                <a:lnTo>
                  <a:pt x="2103119" y="2103119"/>
                </a:lnTo>
                <a:lnTo>
                  <a:pt x="0" y="21031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028700" y="453465"/>
            <a:ext cx="155028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ATRIA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940842" y="453465"/>
            <a:ext cx="9784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Autorité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385046" y="453465"/>
            <a:ext cx="106049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Démo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54289" y="453465"/>
            <a:ext cx="7354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Système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898530" y="453465"/>
            <a:ext cx="8097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Problème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361184" y="6934972"/>
            <a:ext cx="245228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YuNet + SFace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361184" y="7480362"/>
            <a:ext cx="2452286" cy="738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Détection de visage et empreinte à 128 réels. Sur étagère, utilisés tels quels.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065633" y="6934972"/>
            <a:ext cx="245228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MediaPipe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065633" y="7480362"/>
            <a:ext cx="2452286" cy="738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52 coefficients d'expression du visage, 21 points de main. Sur étagère.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770082" y="6934972"/>
            <a:ext cx="245228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YAMNet + Vosk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770082" y="7480362"/>
            <a:ext cx="2452286" cy="738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521 classes sonores, et la transcription du français en local. Sur étagère.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474531" y="6934972"/>
            <a:ext cx="245228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Rupture d'aptitude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474531" y="7480362"/>
            <a:ext cx="2452286" cy="98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Écrit et entraîné par nous. Régression logistique en numpy, une contribution par variable.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398254" y="1823502"/>
            <a:ext cx="9491491" cy="133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65"/>
              </a:lnSpc>
              <a:spcBef>
                <a:spcPct val="0"/>
              </a:spcBef>
            </a:pPr>
            <a:r>
              <a:rPr lang="en-US" b="true" sz="4500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L’INTELLIGENCE ARTIFICIELLE AU SERVICE DE LA SÉCURITÉ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60F">
                <a:alpha val="4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501425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93528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80762" y="7912067"/>
            <a:ext cx="214475" cy="1346233"/>
            <a:chOff x="0" y="0"/>
            <a:chExt cx="56487" cy="3545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487" cy="354563"/>
            </a:xfrm>
            <a:custGeom>
              <a:avLst/>
              <a:gdLst/>
              <a:ahLst/>
              <a:cxnLst/>
              <a:rect r="r" b="b" t="t" l="l"/>
              <a:pathLst>
                <a:path h="354563" w="56487">
                  <a:moveTo>
                    <a:pt x="28244" y="0"/>
                  </a:moveTo>
                  <a:lnTo>
                    <a:pt x="28244" y="0"/>
                  </a:lnTo>
                  <a:cubicBezTo>
                    <a:pt x="43842" y="0"/>
                    <a:pt x="56487" y="12645"/>
                    <a:pt x="56487" y="28244"/>
                  </a:cubicBezTo>
                  <a:lnTo>
                    <a:pt x="56487" y="326320"/>
                  </a:lnTo>
                  <a:cubicBezTo>
                    <a:pt x="56487" y="333811"/>
                    <a:pt x="53512" y="340994"/>
                    <a:pt x="48215" y="346291"/>
                  </a:cubicBezTo>
                  <a:cubicBezTo>
                    <a:pt x="42918" y="351588"/>
                    <a:pt x="35734" y="354563"/>
                    <a:pt x="28244" y="354563"/>
                  </a:cubicBezTo>
                  <a:lnTo>
                    <a:pt x="28244" y="354563"/>
                  </a:lnTo>
                  <a:cubicBezTo>
                    <a:pt x="20753" y="354563"/>
                    <a:pt x="13569" y="351588"/>
                    <a:pt x="8272" y="346291"/>
                  </a:cubicBezTo>
                  <a:cubicBezTo>
                    <a:pt x="2976" y="340994"/>
                    <a:pt x="0" y="333811"/>
                    <a:pt x="0" y="326320"/>
                  </a:cubicBezTo>
                  <a:lnTo>
                    <a:pt x="0" y="28244"/>
                  </a:lnTo>
                  <a:cubicBezTo>
                    <a:pt x="0" y="20753"/>
                    <a:pt x="2976" y="13569"/>
                    <a:pt x="8272" y="8272"/>
                  </a:cubicBezTo>
                  <a:cubicBezTo>
                    <a:pt x="13569" y="2976"/>
                    <a:pt x="20753" y="0"/>
                    <a:pt x="282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487" cy="392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453465"/>
            <a:ext cx="155028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ATRIA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40842" y="453465"/>
            <a:ext cx="9784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Autorité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85046" y="453465"/>
            <a:ext cx="106049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Démo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54289" y="453465"/>
            <a:ext cx="7354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Système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98530" y="453465"/>
            <a:ext cx="8097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Problème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62671" y="334949"/>
            <a:ext cx="454053" cy="454053"/>
          </a:xfrm>
          <a:custGeom>
            <a:avLst/>
            <a:gdLst/>
            <a:ahLst/>
            <a:cxnLst/>
            <a:rect r="r" b="b" t="t" l="l"/>
            <a:pathLst>
              <a:path h="454053" w="454053">
                <a:moveTo>
                  <a:pt x="0" y="0"/>
                </a:moveTo>
                <a:lnTo>
                  <a:pt x="454053" y="0"/>
                </a:lnTo>
                <a:lnTo>
                  <a:pt x="454053" y="454052"/>
                </a:lnTo>
                <a:lnTo>
                  <a:pt x="0" y="454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1" t="0" r="-251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3154289" y="5311903"/>
            <a:ext cx="4098644" cy="409864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387959" y="5545572"/>
            <a:ext cx="3631027" cy="363102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0000" t="0" r="-3000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284666" y="2486025"/>
            <a:ext cx="13335000" cy="168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69"/>
              </a:lnSpc>
              <a:spcBef>
                <a:spcPct val="0"/>
              </a:spcBef>
            </a:pPr>
            <a:r>
              <a:rPr lang="en-US" b="true" sz="5700" strike="noStrike" u="non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LE SYSTÈME DE SURVIE LE PLUS FRAGILE D'UN VAISSEAU, C'EST SON ÉQUIPAGE.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84666" y="4695825"/>
            <a:ext cx="1047750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github.com/AirKyzzZ/workshop-2026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60F">
                <a:alpha val="4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64632" y="465819"/>
            <a:ext cx="16230600" cy="7908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604"/>
              </a:lnSpc>
              <a:spcBef>
                <a:spcPct val="0"/>
              </a:spcBef>
            </a:pPr>
            <a:r>
              <a:rPr lang="en-US" b="true" sz="46146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MERCI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529197" y="3350857"/>
            <a:ext cx="13229605" cy="13229605"/>
          </a:xfrm>
          <a:custGeom>
            <a:avLst/>
            <a:gdLst/>
            <a:ahLst/>
            <a:cxnLst/>
            <a:rect r="r" b="b" t="t" l="l"/>
            <a:pathLst>
              <a:path h="13229605" w="13229605">
                <a:moveTo>
                  <a:pt x="0" y="0"/>
                </a:moveTo>
                <a:lnTo>
                  <a:pt x="13229606" y="0"/>
                </a:lnTo>
                <a:lnTo>
                  <a:pt x="13229606" y="13229606"/>
                </a:lnTo>
                <a:lnTo>
                  <a:pt x="0" y="13229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22611" y="6318111"/>
            <a:ext cx="9842777" cy="9842777"/>
          </a:xfrm>
          <a:custGeom>
            <a:avLst/>
            <a:gdLst/>
            <a:ahLst/>
            <a:cxnLst/>
            <a:rect r="r" b="b" t="t" l="l"/>
            <a:pathLst>
              <a:path h="9842777" w="9842777">
                <a:moveTo>
                  <a:pt x="0" y="0"/>
                </a:moveTo>
                <a:lnTo>
                  <a:pt x="9842778" y="0"/>
                </a:lnTo>
                <a:lnTo>
                  <a:pt x="9842778" y="9842778"/>
                </a:lnTo>
                <a:lnTo>
                  <a:pt x="0" y="9842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7293116" y="501425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93116" y="593528"/>
            <a:ext cx="397367" cy="28996"/>
            <a:chOff x="0" y="0"/>
            <a:chExt cx="128243" cy="9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8180762" y="7912067"/>
            <a:ext cx="214475" cy="1346233"/>
            <a:chOff x="0" y="0"/>
            <a:chExt cx="56487" cy="3545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487" cy="354563"/>
            </a:xfrm>
            <a:custGeom>
              <a:avLst/>
              <a:gdLst/>
              <a:ahLst/>
              <a:cxnLst/>
              <a:rect r="r" b="b" t="t" l="l"/>
              <a:pathLst>
                <a:path h="354563" w="56487">
                  <a:moveTo>
                    <a:pt x="28244" y="0"/>
                  </a:moveTo>
                  <a:lnTo>
                    <a:pt x="28244" y="0"/>
                  </a:lnTo>
                  <a:cubicBezTo>
                    <a:pt x="43842" y="0"/>
                    <a:pt x="56487" y="12645"/>
                    <a:pt x="56487" y="28244"/>
                  </a:cubicBezTo>
                  <a:lnTo>
                    <a:pt x="56487" y="326320"/>
                  </a:lnTo>
                  <a:cubicBezTo>
                    <a:pt x="56487" y="333811"/>
                    <a:pt x="53512" y="340994"/>
                    <a:pt x="48215" y="346291"/>
                  </a:cubicBezTo>
                  <a:cubicBezTo>
                    <a:pt x="42918" y="351588"/>
                    <a:pt x="35734" y="354563"/>
                    <a:pt x="28244" y="354563"/>
                  </a:cubicBezTo>
                  <a:lnTo>
                    <a:pt x="28244" y="354563"/>
                  </a:lnTo>
                  <a:cubicBezTo>
                    <a:pt x="20753" y="354563"/>
                    <a:pt x="13569" y="351588"/>
                    <a:pt x="8272" y="346291"/>
                  </a:cubicBezTo>
                  <a:cubicBezTo>
                    <a:pt x="2976" y="340994"/>
                    <a:pt x="0" y="333811"/>
                    <a:pt x="0" y="326320"/>
                  </a:cubicBezTo>
                  <a:lnTo>
                    <a:pt x="0" y="28244"/>
                  </a:lnTo>
                  <a:cubicBezTo>
                    <a:pt x="0" y="20753"/>
                    <a:pt x="2976" y="13569"/>
                    <a:pt x="8272" y="8272"/>
                  </a:cubicBezTo>
                  <a:cubicBezTo>
                    <a:pt x="13569" y="2976"/>
                    <a:pt x="20753" y="0"/>
                    <a:pt x="282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6487" cy="392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453465"/>
            <a:ext cx="155028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ATRIA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940842" y="453465"/>
            <a:ext cx="9784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Autorité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85046" y="453465"/>
            <a:ext cx="106049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Démo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54289" y="453465"/>
            <a:ext cx="7354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Système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98530" y="453465"/>
            <a:ext cx="8097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Problème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62671" y="334949"/>
            <a:ext cx="454053" cy="454053"/>
          </a:xfrm>
          <a:custGeom>
            <a:avLst/>
            <a:gdLst/>
            <a:ahLst/>
            <a:cxnLst/>
            <a:rect r="r" b="b" t="t" l="l"/>
            <a:pathLst>
              <a:path h="454053" w="454053">
                <a:moveTo>
                  <a:pt x="0" y="0"/>
                </a:moveTo>
                <a:lnTo>
                  <a:pt x="454053" y="0"/>
                </a:lnTo>
                <a:lnTo>
                  <a:pt x="454053" y="454052"/>
                </a:lnTo>
                <a:lnTo>
                  <a:pt x="0" y="4540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1" t="0" r="-251" b="0"/>
            </a:stretch>
          </a:blipFill>
        </p:spPr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DAHWGtlRDkc</dc:identifier>
  <dcterms:modified xsi:type="dcterms:W3CDTF">2011-08-01T06:04:30Z</dcterms:modified>
  <cp:revision>1</cp:revision>
  <dc:title>ATRIA — Soutenance EPSI 2026</dc:title>
</cp:coreProperties>
</file>